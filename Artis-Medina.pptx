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2E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60720" y="3429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0" y="6858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0" y="10287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0" y="13716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17145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20574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24003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27432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30861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34290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37719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41148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44577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48006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0" y="51435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54864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58293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61722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720" y="65151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0"/>
            <a:ext cx="6153912" cy="6858000"/>
          </a:xfrm>
          <a:prstGeom prst="rect">
            <a:avLst/>
          </a:prstGeom>
          <a:solidFill>
            <a:srgbClr val="120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459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8863A"/>
                </a:solidFill>
                <a:latin typeface="Garamond"/>
              </a:rPr>
              <a:t>ARTIS-MEDINA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834640"/>
            <a:ext cx="3657600" cy="381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0175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5F0E8"/>
                </a:solidFill>
                <a:latin typeface="Garamond"/>
              </a:rPr>
              <a:t>Connecting artisans with people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490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7E72"/>
                </a:solidFill>
                <a:latin typeface="Calibri"/>
              </a:rPr>
              <a:t>Digitaliser le savoir-faire marocain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5603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7E72"/>
                </a:solidFill>
                <a:latin typeface="Calibri"/>
              </a:rPr>
              <a:t>[ Photo plein cadre : artisan marocain en train de travailler
le zellige ou la poterie — lumière chaude, mise en scène authentique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1234440"/>
          </a:xfrm>
          <a:prstGeom prst="rect">
            <a:avLst/>
          </a:prstGeom>
          <a:solidFill>
            <a:srgbClr val="1C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8863A"/>
                </a:solidFill>
                <a:latin typeface="Garamond"/>
              </a:rPr>
              <a:t>LE 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F0E8"/>
                </a:solidFill>
                <a:latin typeface="Garamond"/>
              </a:rPr>
              <a:t>Un talent immense… encore trop invisible.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731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82880"/>
            <a:ext cx="731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2880"/>
            <a:ext cx="731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320040"/>
            <a:ext cx="731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"/>
            <a:ext cx="731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457200"/>
            <a:ext cx="731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182880"/>
            <a:ext cx="731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594360"/>
            <a:ext cx="731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554480"/>
            <a:ext cx="356616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554480"/>
            <a:ext cx="3566160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87451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412AA3"/>
                </a:solidFill>
                <a:latin typeface="Segoe UI Emoji"/>
              </a:rPr>
              <a:t>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1714"/>
                </a:solidFill>
                <a:latin typeface="Garamond"/>
              </a:rPr>
              <a:t>Invisibilité Digitale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3401568"/>
            <a:ext cx="1737360" cy="254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66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7E72"/>
                </a:solidFill>
                <a:latin typeface="Calibri"/>
              </a:rPr>
              <a:t>90% des artisans marocains
n'ont aucune présence en ligne.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6552" y="1554480"/>
            <a:ext cx="356616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6552" y="1554480"/>
            <a:ext cx="3566160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187451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412AA3"/>
                </a:solidFill>
                <a:latin typeface="Segoe UI Emoji"/>
              </a:rP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1714"/>
                </a:solidFill>
                <a:latin typeface="Garamond"/>
              </a:rPr>
              <a:t>Découverte Impossible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0952" y="3401568"/>
            <a:ext cx="1737360" cy="254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3566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7E72"/>
                </a:solidFill>
                <a:latin typeface="Calibri"/>
              </a:rPr>
              <a:t>Les acheteurs ne savent pas
où trouver l'authenticité.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0184" y="1554480"/>
            <a:ext cx="356616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30184" y="1554480"/>
            <a:ext cx="3566160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4" y="187451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412AA3"/>
                </a:solidFill>
                <a:latin typeface="Segoe UI Emoji"/>
              </a:rPr>
              <a:t>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1714"/>
                </a:solidFill>
                <a:latin typeface="Garamond"/>
              </a:rPr>
              <a:t>Connexion Humaine Absente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44584" y="3401568"/>
            <a:ext cx="1737360" cy="254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3064" y="3566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7E72"/>
                </a:solidFill>
                <a:latin typeface="Calibri"/>
              </a:rPr>
              <a:t>Les plateformes existantes ignorent
l'histoire et le savoir-faire.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E72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8863A"/>
                </a:solidFill>
                <a:latin typeface="Garamond"/>
              </a:rPr>
              <a:t>LA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3200400" cy="381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F0E8"/>
                </a:solidFill>
                <a:latin typeface="Garamond"/>
              </a:rPr>
              <a:t>Une marketplace humaine, culturelle et vivante.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120640" cy="1828800"/>
          </a:xfrm>
          <a:prstGeom prst="rect">
            <a:avLst/>
          </a:prstGeom>
          <a:solidFill>
            <a:srgbClr val="28201A"/>
          </a:solidFill>
          <a:ln w="127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28016" cy="18288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863A"/>
                </a:solidFill>
                <a:latin typeface="Segoe UI Emoji"/>
              </a:rPr>
              <a:t>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48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aramond"/>
              </a:rPr>
              <a:t>Profils Artisans Riches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974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E72"/>
                </a:solidFill>
                <a:latin typeface="Calibri"/>
              </a:rPr>
              <a:t>Boutique digitale personnalisée
avec histoire et savoir-faire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5120640" cy="1828800"/>
          </a:xfrm>
          <a:prstGeom prst="rect">
            <a:avLst/>
          </a:prstGeom>
          <a:solidFill>
            <a:srgbClr val="28201A"/>
          </a:solidFill>
          <a:ln w="127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128016" cy="18288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863A"/>
                </a:solidFill>
                <a:latin typeface="Segoe UI Emoji"/>
              </a:rPr>
              <a:t>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148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aramond"/>
              </a:rPr>
              <a:t>Storytelling Produit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6974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E72"/>
                </a:solidFill>
                <a:latin typeface="Calibri"/>
              </a:rPr>
              <a:t>Chaque article raconte
son origine et sa technique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5120640" cy="1828800"/>
          </a:xfrm>
          <a:prstGeom prst="rect">
            <a:avLst/>
          </a:prstGeom>
          <a:solidFill>
            <a:srgbClr val="28201A"/>
          </a:solidFill>
          <a:ln w="127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128016" cy="18288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89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863A"/>
                </a:solidFill>
                <a:latin typeface="Segoe UI Emoji"/>
              </a:rPr>
              <a:t>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3434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aramond"/>
              </a:rPr>
              <a:t>Messagerie Directe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8920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E72"/>
                </a:solidFill>
                <a:latin typeface="Calibri"/>
              </a:rPr>
              <a:t>Dialogue en temps réel
entre client et créateur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114800"/>
            <a:ext cx="5120640" cy="1828800"/>
          </a:xfrm>
          <a:prstGeom prst="rect">
            <a:avLst/>
          </a:prstGeom>
          <a:solidFill>
            <a:srgbClr val="28201A"/>
          </a:solidFill>
          <a:ln w="127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4114800"/>
            <a:ext cx="128016" cy="18288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389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863A"/>
                </a:solidFill>
                <a:latin typeface="Segoe UI Emoji"/>
              </a:rPr>
              <a:t>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3434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aramond"/>
              </a:rPr>
              <a:t>Artisan du Jour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920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E72"/>
                </a:solidFill>
                <a:latin typeface="Calibri"/>
              </a:rPr>
              <a:t>Mise en avant quotidienne
pour plus de visibilité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E72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817352" y="91440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91440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19688" y="91440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0856" y="91440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22024" y="91440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23192" y="91440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17352" y="292608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18520" y="292608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219688" y="292608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20856" y="292608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22024" y="292608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23192" y="292608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17352" y="493776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018520" y="493776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19688" y="493776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20856" y="493776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622024" y="493776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23192" y="493776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17352" y="694944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18520" y="694944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19688" y="694944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20856" y="694944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622024" y="694944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823192" y="694944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817352" y="896112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018520" y="896112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219688" y="896112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20856" y="896112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622024" y="896112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823192" y="896112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817352" y="1097280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018520" y="1097280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219688" y="1097280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20856" y="1097280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622024" y="1097280"/>
            <a:ext cx="201168" cy="20116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823192" y="1097280"/>
            <a:ext cx="201168" cy="2011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8863A"/>
                </a:solidFill>
                <a:latin typeface="Garamond"/>
              </a:rPr>
              <a:t>NOT JUST A MARKETPLACE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412AA3"/>
                </a:solidFill>
                <a:latin typeface="Garamond"/>
              </a:rPr>
              <a:t>— A HUMAN EXPERIENCE 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3749039"/>
            <a:ext cx="4873752" cy="254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39319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F0E8"/>
                </a:solidFill>
                <a:latin typeface="Calibri"/>
              </a:rPr>
              <a:t>Artis-Medina transforme chaque transaction en rencontre culturelle.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0" y="4846320"/>
            <a:ext cx="2560320" cy="822960"/>
          </a:xfrm>
          <a:prstGeom prst="rect">
            <a:avLst/>
          </a:prstGeom>
          <a:solidFill>
            <a:srgbClr val="1A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0" y="4846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863A"/>
                </a:solidFill>
                <a:latin typeface="Garamond"/>
              </a:rPr>
              <a:t>Authenticité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846320"/>
            <a:ext cx="2560320" cy="822960"/>
          </a:xfrm>
          <a:prstGeom prst="rect">
            <a:avLst/>
          </a:prstGeom>
          <a:solidFill>
            <a:srgbClr val="1A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0" y="4846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863A"/>
                </a:solidFill>
                <a:latin typeface="Garamond"/>
              </a:rPr>
              <a:t>Connexion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846320"/>
            <a:ext cx="2560320" cy="822960"/>
          </a:xfrm>
          <a:prstGeom prst="rect">
            <a:avLst/>
          </a:prstGeom>
          <a:solidFill>
            <a:srgbClr val="1A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4846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863A"/>
                </a:solidFill>
                <a:latin typeface="Garamond"/>
              </a:rPr>
              <a:t>Héritage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E72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4572000" cy="5943600"/>
          </a:xfrm>
          <a:prstGeom prst="rect">
            <a:avLst/>
          </a:prstGeom>
          <a:solidFill>
            <a:srgbClr val="1C1714"/>
          </a:solidFill>
          <a:ln w="254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0"/>
            <a:ext cx="4572000" cy="2560320"/>
          </a:xfrm>
          <a:prstGeom prst="rect">
            <a:avLst/>
          </a:prstGeom>
          <a:solidFill>
            <a:srgbClr val="3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7E72"/>
                </a:solidFill>
                <a:latin typeface="Calibri"/>
              </a:rPr>
              <a:t>[ Mockup : écran 'Artisan du Jour'
Photo artisan + nom + ville + spécialité
Bouton 'Découvrir son histoire' ]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685800"/>
            <a:ext cx="3291840" cy="38404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6858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714"/>
                </a:solidFill>
                <a:latin typeface="Calibri"/>
              </a:rPr>
              <a:t>✦ ARTISAN DU JOUR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7315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1714"/>
                </a:solidFill>
                <a:latin typeface="Garamond"/>
              </a:rPr>
              <a:t>ARTISAN DU JOUR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600200"/>
            <a:ext cx="3200400" cy="254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412AA3"/>
                </a:solidFill>
                <a:latin typeface="Garamond"/>
              </a:rPr>
              <a:t>Chaque jour, une histoire.
Chaque histoire, un artisan.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83464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700" b="0">
                <a:solidFill>
                  <a:srgbClr val="1C1714"/>
                </a:solidFill>
                <a:latin typeface="Calibri"/>
              </a:rPr>
              <a:t>◆ Mise en avant quotidienne et algorithmique</a:t>
            </a:r>
          </a:p>
          <a:p>
            <a:pPr algn="l">
              <a:lnSpc>
                <a:spcPts val="3000"/>
              </a:lnSpc>
            </a:pPr>
            <a:r>
              <a:rPr sz="1700" b="0">
                <a:solidFill>
                  <a:srgbClr val="1C1714"/>
                </a:solidFill>
                <a:latin typeface="Calibri"/>
              </a:rPr>
              <a:t>◆ Storytelling visuel : photos, vidéo courte</a:t>
            </a:r>
          </a:p>
          <a:p>
            <a:pPr algn="l">
              <a:lnSpc>
                <a:spcPts val="3000"/>
              </a:lnSpc>
            </a:pPr>
            <a:r>
              <a:rPr sz="1700" b="0">
                <a:solidFill>
                  <a:srgbClr val="1C1714"/>
                </a:solidFill>
                <a:latin typeface="Calibri"/>
              </a:rPr>
              <a:t>◆ Notoriété amplifiée pour les petits artisans</a:t>
            </a:r>
          </a:p>
          <a:p>
            <a:pPr algn="l">
              <a:lnSpc>
                <a:spcPts val="3000"/>
              </a:lnSpc>
            </a:pPr>
            <a:r>
              <a:rPr sz="1700" b="0">
                <a:solidFill>
                  <a:srgbClr val="1C1714"/>
                </a:solidFill>
                <a:latin typeface="Calibri"/>
              </a:rPr>
              <a:t>◆ Fidélisation de la communauté d'acheteurs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E72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8863A"/>
                </a:solidFill>
                <a:latin typeface="Garamond"/>
              </a:rPr>
              <a:t>EXPLORER LIBREMENT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5F0E8"/>
                </a:solidFill>
                <a:latin typeface="Garamond"/>
              </a:rPr>
              <a:t>Une navigation double — intuitive et immersive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4572000" cy="254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965960"/>
            <a:ext cx="4873752" cy="658368"/>
          </a:xfrm>
          <a:prstGeom prst="rect">
            <a:avLst/>
          </a:prstGeom>
          <a:solidFill>
            <a:srgbClr val="2A2218"/>
          </a:solidFill>
          <a:ln w="1905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1965960"/>
            <a:ext cx="2432304" cy="65836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965960"/>
            <a:ext cx="243230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714"/>
                </a:solidFill>
                <a:latin typeface="Calibri"/>
              </a:rPr>
              <a:t>PAR ARTISAN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9904" y="1965960"/>
            <a:ext cx="243230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A7E72"/>
                </a:solidFill>
                <a:latin typeface="Calibri"/>
              </a:rPr>
              <a:t>PAR PRODUIT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5394960" cy="3474720"/>
          </a:xfrm>
          <a:prstGeom prst="rect">
            <a:avLst/>
          </a:prstGeom>
          <a:solidFill>
            <a:srgbClr val="221A14"/>
          </a:solidFill>
          <a:ln w="1905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863A"/>
                </a:solidFill>
                <a:latin typeface="Garamond"/>
              </a:rPr>
              <a:t>Mode Artisan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600" b="0">
                <a:solidFill>
                  <a:srgbClr val="F5F0E8"/>
                </a:solidFill>
                <a:latin typeface="Calibri"/>
              </a:rPr>
              <a:t>→ Accéder au profil complet</a:t>
            </a:r>
          </a:p>
          <a:p>
            <a:pPr algn="l">
              <a:lnSpc>
                <a:spcPts val="2800"/>
              </a:lnSpc>
            </a:pPr>
            <a:r>
              <a:rPr sz="1600" b="0">
                <a:solidFill>
                  <a:srgbClr val="F5F0E8"/>
                </a:solidFill>
                <a:latin typeface="Calibri"/>
              </a:rPr>
              <a:t>→ Lire la biographie</a:t>
            </a:r>
          </a:p>
          <a:p>
            <a:pPr algn="l">
              <a:lnSpc>
                <a:spcPts val="2800"/>
              </a:lnSpc>
            </a:pPr>
            <a:r>
              <a:rPr sz="1600" b="0">
                <a:solidFill>
                  <a:srgbClr val="F5F0E8"/>
                </a:solidFill>
                <a:latin typeface="Calibri"/>
              </a:rPr>
              <a:t>→ Voir tous les produits</a:t>
            </a:r>
          </a:p>
          <a:p>
            <a:pPr algn="l">
              <a:lnSpc>
                <a:spcPts val="2800"/>
              </a:lnSpc>
            </a:pPr>
            <a:r>
              <a:rPr sz="1600" b="0">
                <a:solidFill>
                  <a:srgbClr val="F5F0E8"/>
                </a:solidFill>
                <a:latin typeface="Calibri"/>
              </a:rPr>
              <a:t>→ Contacter directement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880360"/>
            <a:ext cx="5394960" cy="3474720"/>
          </a:xfrm>
          <a:prstGeom prst="rect">
            <a:avLst/>
          </a:prstGeom>
          <a:solidFill>
            <a:srgbClr val="221A14"/>
          </a:solidFill>
          <a:ln w="19050">
            <a:solidFill>
              <a:srgbClr val="412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12AA3"/>
                </a:solidFill>
                <a:latin typeface="Garamond"/>
              </a:rPr>
              <a:t>Mode Produit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0332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600" b="0">
                <a:solidFill>
                  <a:srgbClr val="F5F0E8"/>
                </a:solidFill>
                <a:latin typeface="Calibri"/>
              </a:rPr>
              <a:t>→ Filtrer par catégorie</a:t>
            </a:r>
          </a:p>
          <a:p>
            <a:pPr algn="l">
              <a:lnSpc>
                <a:spcPts val="2800"/>
              </a:lnSpc>
            </a:pPr>
            <a:r>
              <a:rPr sz="1600" b="0">
                <a:solidFill>
                  <a:srgbClr val="F5F0E8"/>
                </a:solidFill>
                <a:latin typeface="Calibri"/>
              </a:rPr>
              <a:t>→ Comparer les créations</a:t>
            </a:r>
          </a:p>
          <a:p>
            <a:pPr algn="l">
              <a:lnSpc>
                <a:spcPts val="2800"/>
              </a:lnSpc>
            </a:pPr>
            <a:r>
              <a:rPr sz="1600" b="0">
                <a:solidFill>
                  <a:srgbClr val="F5F0E8"/>
                </a:solidFill>
                <a:latin typeface="Calibri"/>
              </a:rPr>
              <a:t>→ Voir l'artisan créateur</a:t>
            </a:r>
          </a:p>
          <a:p>
            <a:pPr algn="l">
              <a:lnSpc>
                <a:spcPts val="2800"/>
              </a:lnSpc>
            </a:pPr>
            <a:r>
              <a:rPr sz="1600" b="0">
                <a:solidFill>
                  <a:srgbClr val="F5F0E8"/>
                </a:solidFill>
                <a:latin typeface="Calibri"/>
              </a:rPr>
              <a:t>→ Ajouter aux favoris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97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7E72"/>
                </a:solidFill>
                <a:latin typeface="Calibri"/>
              </a:rPr>
              <a:t>[ Mockup toggle : deux screenshots côte à côte montrant chaque mode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E72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1714"/>
                </a:solidFill>
                <a:latin typeface="Garamond"/>
              </a:rPr>
              <a:t>LA BOUTIQUE DIGITALE DE L'ARTISAN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4114800" cy="254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457200"/>
            <a:ext cx="4572000" cy="6035040"/>
          </a:xfrm>
          <a:prstGeom prst="rect">
            <a:avLst/>
          </a:prstGeom>
          <a:solidFill>
            <a:srgbClr val="1C1714"/>
          </a:solidFill>
          <a:ln w="254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0" y="457200"/>
            <a:ext cx="4572000" cy="2011680"/>
          </a:xfrm>
          <a:prstGeom prst="rect">
            <a:avLst/>
          </a:prstGeom>
          <a:solidFill>
            <a:srgbClr val="3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0972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7E72"/>
                </a:solidFill>
                <a:latin typeface="Calibri"/>
              </a:rPr>
              <a:t>[ Mockup : profil artisan
Avatar + bannière + nom + ville
Galerie produits + bouton Chat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2926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2926080" cy="13716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08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714"/>
                </a:solidFill>
                <a:latin typeface="Garamond"/>
              </a:rPr>
              <a:t>🪬 Identité Culturelle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E72"/>
                </a:solidFill>
                <a:latin typeface="Calibri"/>
              </a:rPr>
              <a:t>Nom, région, spécialité et portrait
photographique authentique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1280160"/>
            <a:ext cx="2926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1280160"/>
            <a:ext cx="2926080" cy="13716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199" y="1508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714"/>
                </a:solidFill>
                <a:latin typeface="Garamond"/>
              </a:rPr>
              <a:t>🖼️ Galerie Immersive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199" y="21488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E72"/>
                </a:solidFill>
                <a:latin typeface="Calibri"/>
              </a:rPr>
              <a:t>Grid visuel de toutes les créations
avec aperçu rapide au survol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2926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2926080" cy="13716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862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714"/>
                </a:solidFill>
                <a:latin typeface="Garamond"/>
              </a:rPr>
              <a:t>📜 Récit de Maître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262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E72"/>
                </a:solidFill>
                <a:latin typeface="Calibri"/>
              </a:rPr>
              <a:t>Biographie narrative : origines,
techniques, valeurs transmises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3657600"/>
            <a:ext cx="2926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3657600"/>
            <a:ext cx="2926080" cy="13716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199" y="38862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714"/>
                </a:solidFill>
                <a:latin typeface="Garamond"/>
              </a:rPr>
              <a:t>💬 Contact Direct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199" y="45262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E72"/>
                </a:solidFill>
                <a:latin typeface="Calibri"/>
              </a:rPr>
              <a:t>Messagerie intégrée et sans friction
pour initier une commande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E72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4572000" cy="6035040"/>
          </a:xfrm>
          <a:prstGeom prst="rect">
            <a:avLst/>
          </a:prstGeom>
          <a:solidFill>
            <a:srgbClr val="281E16"/>
          </a:solidFill>
          <a:ln w="254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4572000" cy="2560320"/>
          </a:xfrm>
          <a:prstGeom prst="rect">
            <a:avLst/>
          </a:prstGeom>
          <a:solidFill>
            <a:srgbClr val="4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7E72"/>
                </a:solidFill>
                <a:latin typeface="Calibri"/>
              </a:rPr>
              <a:t>[ Mockup : fiche produit
Photo haute qualité + titre + prix
Section 'L'histoire de ce produit'
Nom artisan + bouton Commande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45720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8863A"/>
                </a:solidFill>
                <a:latin typeface="Garamond"/>
              </a:rPr>
              <a:t>CHAQUE PRODUIT
RACONTE UNE HISTOIRE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920240"/>
            <a:ext cx="3657600" cy="381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5F0E8"/>
                </a:solidFill>
                <a:latin typeface="Garamond"/>
              </a:rPr>
              <a:t>Au-delà du prix — l'âme du créateur.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2834640"/>
            <a:ext cx="5943600" cy="749808"/>
          </a:xfrm>
          <a:prstGeom prst="rect">
            <a:avLst/>
          </a:prstGeom>
          <a:solidFill>
            <a:srgbClr val="24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2834640"/>
            <a:ext cx="109728" cy="74980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9443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863A"/>
                </a:solidFill>
                <a:latin typeface="Segoe UI Emoji"/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07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Origine Géographique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E72"/>
                </a:solidFill>
                <a:latin typeface="Calibri"/>
              </a:rPr>
              <a:t>Village, région, traditions locales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730752"/>
            <a:ext cx="5943600" cy="749808"/>
          </a:xfrm>
          <a:prstGeom prst="rect">
            <a:avLst/>
          </a:prstGeom>
          <a:solidFill>
            <a:srgbClr val="24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3730752"/>
            <a:ext cx="109728" cy="74980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840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863A"/>
                </a:solidFill>
                <a:latin typeface="Segoe UI Emoji"/>
              </a:rPr>
              <a:t>⚒️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8039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Technique Ancestrale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42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E72"/>
                </a:solidFill>
                <a:latin typeface="Calibri"/>
              </a:rPr>
              <a:t>Geste, matière, transmission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4626864"/>
            <a:ext cx="5943600" cy="749808"/>
          </a:xfrm>
          <a:prstGeom prst="rect">
            <a:avLst/>
          </a:prstGeom>
          <a:solidFill>
            <a:srgbClr val="24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0" y="4626864"/>
            <a:ext cx="109728" cy="74980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473659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863A"/>
                </a:solidFill>
                <a:latin typeface="Segoe UI Emoji"/>
              </a:rPr>
              <a:t>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00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Temps de Création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38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E72"/>
                </a:solidFill>
                <a:latin typeface="Calibri"/>
              </a:rPr>
              <a:t>Transparence sur le travail artisanal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5522976"/>
            <a:ext cx="5943600" cy="749808"/>
          </a:xfrm>
          <a:prstGeom prst="rect">
            <a:avLst/>
          </a:prstGeom>
          <a:solidFill>
            <a:srgbClr val="24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0" y="5522976"/>
            <a:ext cx="109728" cy="74980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563270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863A"/>
                </a:solidFill>
                <a:latin typeface="Segoe UI Emoji"/>
              </a:rPr>
              <a:t>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596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Impact &amp; Durabilité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934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E72"/>
                </a:solidFill>
                <a:latin typeface="Calibri"/>
              </a:rPr>
              <a:t>Matériaux naturels, circuit court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E72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1714"/>
                </a:solidFill>
                <a:latin typeface="Garamond"/>
              </a:rPr>
              <a:t>CONNEXION DIRECTE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3657600" cy="254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12AA3"/>
                </a:solidFill>
                <a:latin typeface="Garamond"/>
              </a:rPr>
              <a:t>Un dialogue humain — en un seul clic.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457200"/>
            <a:ext cx="4572000" cy="6035040"/>
          </a:xfrm>
          <a:prstGeom prst="rect">
            <a:avLst/>
          </a:prstGeom>
          <a:solidFill>
            <a:srgbClr val="1C1714"/>
          </a:solidFill>
          <a:ln w="254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457200"/>
            <a:ext cx="4572000" cy="685800"/>
          </a:xfrm>
          <a:prstGeom prst="rect">
            <a:avLst/>
          </a:prstGeom>
          <a:solidFill>
            <a:srgbClr val="3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530352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863A"/>
                </a:solidFill>
                <a:latin typeface="Calibri"/>
              </a:rPr>
              <a:t>💬  Hassan — Maître Potier · Fès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325880"/>
            <a:ext cx="3474720" cy="804672"/>
          </a:xfrm>
          <a:prstGeom prst="rect">
            <a:avLst/>
          </a:prstGeom>
          <a:solidFill>
            <a:srgbClr val="3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399032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863A"/>
                </a:solidFill>
                <a:latin typeface="Calibri"/>
              </a:rPr>
              <a:t>Bonjour ! Ce tajine est fait main — 3 jours de travail 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377439"/>
            <a:ext cx="3474720" cy="80467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450591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C'est magnifique ! La glaçure est-elle naturelle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3429000"/>
            <a:ext cx="3474720" cy="804672"/>
          </a:xfrm>
          <a:prstGeom prst="rect">
            <a:avLst/>
          </a:prstGeom>
          <a:solidFill>
            <a:srgbClr val="3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502152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863A"/>
                </a:solidFill>
                <a:latin typeface="Calibri"/>
              </a:rPr>
              <a:t>Oui, argile de Salé + oxyde de cobalt naturel. Authentique.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480559"/>
            <a:ext cx="3474720" cy="80467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553711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Parfait, je le commande ! Livraison possible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011680"/>
            <a:ext cx="6217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1700" b="0">
                <a:solidFill>
                  <a:srgbClr val="1C1714"/>
                </a:solidFill>
                <a:latin typeface="Calibri"/>
              </a:rPr>
              <a:t>◆ Messagerie temps réel sans intermédiaire</a:t>
            </a:r>
          </a:p>
          <a:p>
            <a:pPr algn="l">
              <a:lnSpc>
                <a:spcPts val="3200"/>
              </a:lnSpc>
            </a:pPr>
            <a:r>
              <a:rPr sz="1700" b="0">
                <a:solidFill>
                  <a:srgbClr val="1C1714"/>
                </a:solidFill>
                <a:latin typeface="Calibri"/>
              </a:rPr>
              <a:t>◆ Commandes, questions, personnalisation</a:t>
            </a:r>
          </a:p>
          <a:p>
            <a:pPr algn="l">
              <a:lnSpc>
                <a:spcPts val="3200"/>
              </a:lnSpc>
            </a:pPr>
            <a:r>
              <a:rPr sz="1700" b="0">
                <a:solidFill>
                  <a:srgbClr val="1C1714"/>
                </a:solidFill>
                <a:latin typeface="Calibri"/>
              </a:rPr>
              <a:t>◆ Relation de confiance artisan ↔ client</a:t>
            </a:r>
          </a:p>
          <a:p>
            <a:pPr algn="l">
              <a:lnSpc>
                <a:spcPts val="3200"/>
              </a:lnSpc>
            </a:pPr>
            <a:r>
              <a:rPr sz="1700" b="0">
                <a:solidFill>
                  <a:srgbClr val="1C1714"/>
                </a:solidFill>
                <a:latin typeface="Calibri"/>
              </a:rPr>
              <a:t>◆ Notifications intelligentes &amp; archivage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E72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8863A"/>
                </a:solidFill>
                <a:latin typeface="Garamond"/>
              </a:rPr>
              <a:t>LE PARCOURS UTILISATEUR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5F0E8"/>
                </a:solidFill>
                <a:latin typeface="Garamond"/>
              </a:rPr>
              <a:t>Découvrir · Explorer · Consulter · Contacter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468880" cy="3840480"/>
          </a:xfrm>
          <a:prstGeom prst="rect">
            <a:avLst/>
          </a:prstGeom>
          <a:solidFill>
            <a:srgbClr val="1E182E"/>
          </a:solidFill>
          <a:ln w="2540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286000" cy="2377440"/>
          </a:xfrm>
          <a:prstGeom prst="rect">
            <a:avLst/>
          </a:prstGeom>
          <a:solidFill>
            <a:srgbClr val="2E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1945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8863A"/>
                </a:solidFill>
                <a:latin typeface="Segoe UI Emoji"/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863A"/>
                </a:solidFill>
                <a:latin typeface="Garamond"/>
              </a:rPr>
              <a:t>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7E72"/>
                </a:solidFill>
                <a:latin typeface="Calibri"/>
              </a:rPr>
              <a:t>Artisan du Jour
À la 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8863A"/>
                </a:solidFill>
                <a:latin typeface="Garamond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6432" y="1828800"/>
            <a:ext cx="2468880" cy="3840480"/>
          </a:xfrm>
          <a:prstGeom prst="rect">
            <a:avLst/>
          </a:prstGeom>
          <a:solidFill>
            <a:srgbClr val="1E182E"/>
          </a:solidFill>
          <a:ln w="25400">
            <a:solidFill>
              <a:srgbClr val="412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47872" y="1920240"/>
            <a:ext cx="2286000" cy="2377440"/>
          </a:xfrm>
          <a:prstGeom prst="rect">
            <a:avLst/>
          </a:prstGeom>
          <a:solidFill>
            <a:srgbClr val="2E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21945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8863A"/>
                </a:solidFill>
                <a:latin typeface="Segoe UI Emoji"/>
              </a:rPr>
              <a:t>🧑‍🎨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4434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863A"/>
                </a:solidFill>
                <a:latin typeface="Garamond"/>
              </a:rPr>
              <a:t>ARTISAN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5029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7E72"/>
                </a:solidFill>
                <a:latin typeface="Calibri"/>
              </a:rPr>
              <a:t>Profil complet
Histoire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8863A"/>
                </a:solidFill>
                <a:latin typeface="Garamond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4224" y="1828800"/>
            <a:ext cx="2468880" cy="3840480"/>
          </a:xfrm>
          <a:prstGeom prst="rect">
            <a:avLst/>
          </a:prstGeom>
          <a:solidFill>
            <a:srgbClr val="1E182E"/>
          </a:solidFill>
          <a:ln w="25400">
            <a:solidFill>
              <a:srgbClr val="412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55664" y="1920240"/>
            <a:ext cx="2286000" cy="2377440"/>
          </a:xfrm>
          <a:prstGeom prst="rect">
            <a:avLst/>
          </a:prstGeom>
          <a:solidFill>
            <a:srgbClr val="2E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1464" y="21945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8863A"/>
                </a:solidFill>
                <a:latin typeface="Segoe UI Emoji"/>
              </a:rPr>
              <a:t>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434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863A"/>
                </a:solidFill>
                <a:latin typeface="Garamond"/>
              </a:rPr>
              <a:t>PRODUIT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5029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7E72"/>
                </a:solidFill>
                <a:latin typeface="Calibri"/>
              </a:rPr>
              <a:t>Fiche détaillée
Storytelling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8863A"/>
                </a:solidFill>
                <a:latin typeface="Garamond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72016" y="1828800"/>
            <a:ext cx="2468880" cy="3840480"/>
          </a:xfrm>
          <a:prstGeom prst="rect">
            <a:avLst/>
          </a:prstGeom>
          <a:solidFill>
            <a:srgbClr val="1E182E"/>
          </a:solidFill>
          <a:ln w="25400">
            <a:solidFill>
              <a:srgbClr val="412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63456" y="1920240"/>
            <a:ext cx="2286000" cy="2377440"/>
          </a:xfrm>
          <a:prstGeom prst="rect">
            <a:avLst/>
          </a:prstGeom>
          <a:solidFill>
            <a:srgbClr val="2E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21945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8863A"/>
                </a:solidFill>
                <a:latin typeface="Segoe UI Emoji"/>
              </a:rPr>
              <a:t>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4434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863A"/>
                </a:solidFill>
                <a:latin typeface="Garamond"/>
              </a:rPr>
              <a:t>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5029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7E72"/>
                </a:solidFill>
                <a:latin typeface="Calibri"/>
              </a:rPr>
              <a:t>Contact direct
Commande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1234440"/>
            <a:ext cx="457200" cy="4572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1714"/>
                </a:solidFill>
                <a:latin typeface="Garamond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2272" y="1234440"/>
            <a:ext cx="457200" cy="4572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1714"/>
                </a:solidFill>
                <a:latin typeface="Garamond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0064" y="1234440"/>
            <a:ext cx="457200" cy="4572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0064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1714"/>
                </a:solidFill>
                <a:latin typeface="Garamond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77856" y="1234440"/>
            <a:ext cx="457200" cy="4572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77856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1714"/>
                </a:solidFill>
                <a:latin typeface="Garamond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E72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1714"/>
                </a:solidFill>
                <a:latin typeface="Garamond"/>
              </a:rPr>
              <a:t>IDENTITÉ VISUELLE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3657600" cy="254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920240" cy="118872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714"/>
                </a:solidFill>
                <a:latin typeface="Calibri"/>
              </a:rPr>
              <a:t>Ocre Doré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44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E72"/>
                </a:solidFill>
                <a:latin typeface="Calibri"/>
              </a:rPr>
              <a:t>#C8863A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280160"/>
            <a:ext cx="1920240" cy="118872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714"/>
                </a:solidFill>
                <a:latin typeface="Calibri"/>
              </a:rPr>
              <a:t>Bleu Majorelle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44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E72"/>
                </a:solidFill>
                <a:latin typeface="Calibri"/>
              </a:rPr>
              <a:t>#412AA3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280160"/>
            <a:ext cx="1920240" cy="1188720"/>
          </a:xfrm>
          <a:prstGeom prst="rect">
            <a:avLst/>
          </a:prstGeom>
          <a:solidFill>
            <a:srgbClr val="BF5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714"/>
                </a:solidFill>
                <a:latin typeface="Calibri"/>
              </a:rPr>
              <a:t>Terre Cuite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44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E72"/>
                </a:solidFill>
                <a:latin typeface="Calibri"/>
              </a:rPr>
              <a:t>#BF5B2A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280160"/>
            <a:ext cx="1920240" cy="1188720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714"/>
                </a:solidFill>
                <a:latin typeface="Calibri"/>
              </a:rPr>
              <a:t>Sable Chaud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944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E72"/>
                </a:solidFill>
                <a:latin typeface="Calibri"/>
              </a:rPr>
              <a:t>#E8DFCF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280160"/>
            <a:ext cx="1920240" cy="1188720"/>
          </a:xfrm>
          <a:prstGeom prst="rect">
            <a:avLst/>
          </a:prstGeom>
          <a:solidFill>
            <a:srgbClr val="1C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714"/>
                </a:solidFill>
                <a:latin typeface="Calibri"/>
              </a:rPr>
              <a:t>Noir Profond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944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E72"/>
                </a:solidFill>
                <a:latin typeface="Calibri"/>
              </a:rPr>
              <a:t>#1C1714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714"/>
                </a:solidFill>
                <a:latin typeface="Garamond"/>
              </a:rPr>
              <a:t>Typographie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2743200" cy="254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714"/>
                </a:solidFill>
                <a:latin typeface="Garamond"/>
              </a:rPr>
              <a:t>Garamond — Titres élégants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091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7E72"/>
                </a:solidFill>
                <a:latin typeface="Calibri"/>
              </a:rPr>
              <a:t>Calibri — Corps de texte lisible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383280"/>
            <a:ext cx="16916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12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383280"/>
            <a:ext cx="1691640" cy="13716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6118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12AA3"/>
                </a:solidFill>
                <a:latin typeface="Calibri"/>
              </a:rPr>
              <a:t>◈ Inspiration Zellige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25196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E72"/>
                </a:solidFill>
                <a:latin typeface="Calibri"/>
              </a:rPr>
              <a:t>Motifs géométriques
minimalistes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383280"/>
            <a:ext cx="16916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12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20" y="3383280"/>
            <a:ext cx="1691640" cy="13716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6118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12AA3"/>
                </a:solidFill>
                <a:latin typeface="Calibri"/>
              </a:rPr>
              <a:t>◈ Design Moderne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25196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E72"/>
                </a:solidFill>
                <a:latin typeface="Calibri"/>
              </a:rPr>
              <a:t>UI épurée, espace
négatif maîtrisé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49840" y="3383280"/>
            <a:ext cx="16916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12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49840" y="3383280"/>
            <a:ext cx="1691640" cy="13716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36118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12AA3"/>
                </a:solidFill>
                <a:latin typeface="Calibri"/>
              </a:rPr>
              <a:t>◈ Expérience Culturelle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425196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E72"/>
                </a:solidFill>
                <a:latin typeface="Calibri"/>
              </a:rPr>
              <a:t>Chaque pixel raconte
un héritage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183112" y="5029200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347704" y="5029200"/>
            <a:ext cx="164592" cy="16459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512296" y="5029200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676888" y="5029200"/>
            <a:ext cx="164592" cy="16459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841480" y="5029200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183112" y="5193792"/>
            <a:ext cx="164592" cy="16459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347704" y="5193792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512296" y="5193792"/>
            <a:ext cx="164592" cy="16459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676888" y="5193792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841480" y="5193792"/>
            <a:ext cx="164592" cy="16459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183112" y="5358384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347704" y="5358384"/>
            <a:ext cx="164592" cy="16459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512296" y="5358384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676888" y="5358384"/>
            <a:ext cx="164592" cy="16459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41480" y="5358384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183112" y="5522976"/>
            <a:ext cx="164592" cy="16459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347704" y="5522976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512296" y="5522976"/>
            <a:ext cx="164592" cy="16459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676888" y="5522976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841480" y="5522976"/>
            <a:ext cx="164592" cy="16459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183112" y="5687568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347704" y="5687568"/>
            <a:ext cx="164592" cy="16459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512296" y="5687568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676888" y="5687568"/>
            <a:ext cx="164592" cy="16459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841480" y="5687568"/>
            <a:ext cx="164592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E72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863A"/>
                </a:solidFill>
                <a:latin typeface="Garamond"/>
              </a:rPr>
              <a:t>NOTRE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051560"/>
            <a:ext cx="3959352" cy="254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F5F0E8"/>
                </a:solidFill>
                <a:latin typeface="Garamond"/>
              </a:rPr>
              <a:t>Artis-Medina, vecteur de transformation sociale et culturelle.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560320" cy="4114800"/>
          </a:xfrm>
          <a:prstGeom prst="rect">
            <a:avLst/>
          </a:prstGeom>
          <a:solidFill>
            <a:srgbClr val="181228"/>
          </a:solidFill>
          <a:ln w="1905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2560320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C8863A"/>
                </a:solidFill>
                <a:latin typeface="Segoe UI Emoji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863A"/>
                </a:solidFill>
                <a:latin typeface="Garamond"/>
              </a:rPr>
              <a:t>Digitalisation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886200"/>
            <a:ext cx="1463040" cy="254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0E8"/>
                </a:solidFill>
                <a:latin typeface="Calibri"/>
              </a:rPr>
              <a:t>Intégrer 10 000 artisans
marocains sur la plateforme
d'ici 3 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6432" y="1965960"/>
            <a:ext cx="2560320" cy="4114800"/>
          </a:xfrm>
          <a:prstGeom prst="rect">
            <a:avLst/>
          </a:prstGeom>
          <a:solidFill>
            <a:srgbClr val="181228"/>
          </a:solidFill>
          <a:ln w="1905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965960"/>
            <a:ext cx="2560320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3317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C8863A"/>
                </a:solidFill>
                <a:latin typeface="Segoe UI Emoji"/>
              </a:rPr>
              <a:t>🏛️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200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863A"/>
                </a:solidFill>
                <a:latin typeface="Garamond"/>
              </a:rPr>
              <a:t>Patrimoine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5072" y="3886200"/>
            <a:ext cx="1463040" cy="254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4069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0E8"/>
                </a:solidFill>
                <a:latin typeface="Calibri"/>
              </a:rPr>
              <a:t>Préserver et valoriser
50+ techniques artisanales
traditionelles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4224" y="1965960"/>
            <a:ext cx="2560320" cy="4114800"/>
          </a:xfrm>
          <a:prstGeom prst="rect">
            <a:avLst/>
          </a:prstGeom>
          <a:solidFill>
            <a:srgbClr val="181228"/>
          </a:solidFill>
          <a:ln w="1905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1965960"/>
            <a:ext cx="2560320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3317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C8863A"/>
                </a:solidFill>
                <a:latin typeface="Segoe UI Emoji"/>
              </a:rPr>
              <a:t>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200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863A"/>
                </a:solidFill>
                <a:latin typeface="Garamond"/>
              </a:rPr>
              <a:t>Accessibilité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12864" y="3886200"/>
            <a:ext cx="1463040" cy="254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4069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0E8"/>
                </a:solidFill>
                <a:latin typeface="Calibri"/>
              </a:rPr>
              <a:t>Rendre le marché artisanal
accessible à l'échelle
nationale &amp; mondiale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2016" y="1965960"/>
            <a:ext cx="2560320" cy="4114800"/>
          </a:xfrm>
          <a:prstGeom prst="rect">
            <a:avLst/>
          </a:prstGeom>
          <a:solidFill>
            <a:srgbClr val="181228"/>
          </a:solidFill>
          <a:ln w="19050">
            <a:solidFill>
              <a:srgbClr val="C8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72016" y="1965960"/>
            <a:ext cx="2560320" cy="164592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6" y="23317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C8863A"/>
                </a:solidFill>
                <a:latin typeface="Segoe UI Emoji"/>
              </a:rPr>
              <a:t>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3200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863A"/>
                </a:solidFill>
                <a:latin typeface="Garamond"/>
              </a:rPr>
              <a:t>Innovation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0656" y="3886200"/>
            <a:ext cx="1463040" cy="254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9176" y="4069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0E8"/>
                </a:solidFill>
                <a:latin typeface="Calibri"/>
              </a:rPr>
              <a:t>Technologie au service
de l'humain — pas
le contraire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E72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2E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60720" y="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60720" y="3429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0" y="6858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0" y="10287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0" y="13716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17145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20574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24003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27432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30861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34290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37719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41148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44577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48006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0" y="51435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54864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58293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6172200"/>
            <a:ext cx="54864" cy="3429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720" y="6515100"/>
            <a:ext cx="54864" cy="3429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0"/>
            <a:ext cx="6153912" cy="6858000"/>
          </a:xfrm>
          <a:prstGeom prst="rect">
            <a:avLst/>
          </a:prstGeom>
          <a:solidFill>
            <a:srgbClr val="120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5603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7E72"/>
                </a:solidFill>
                <a:latin typeface="Calibri"/>
              </a:rPr>
              <a:t>[ Photo finale : artisan tenant fièrement sa création —
cadrage serré, fond flou, lumière dorée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0972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C8863A"/>
                </a:solidFill>
                <a:latin typeface="Garamond"/>
              </a:rPr>
              <a:t>ARTIS-MEDINA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194560"/>
            <a:ext cx="4114800" cy="38100"/>
          </a:xfrm>
          <a:prstGeom prst="rect">
            <a:avLst/>
          </a:prstGeom>
          <a:solidFill>
            <a:srgbClr val="412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4231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F5F0E8"/>
                </a:solidFill>
                <a:latin typeface="Garamond"/>
              </a:rPr>
              <a:t>Une expérience,
pas seulement une application.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840480"/>
            <a:ext cx="3657600" cy="254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233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A7E72"/>
                </a:solidFill>
                <a:latin typeface="Garamond"/>
              </a:rPr>
              <a:t>Merci de votre attention.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846320"/>
            <a:ext cx="4114800" cy="68580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8463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714"/>
                </a:solidFill>
                <a:latin typeface="Calibri"/>
              </a:rPr>
              <a:t>✦ DIGITALISER · CONNECTER · PRÉSERVER 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